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2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Two-layer agentic pipeline: XGBoost GWAS classifier feeding an autonomous LLM TPO 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sections covering the full arc from genomic science to operational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GWAS finds variants, mQTL explains how they act epigenetically, ML captures the non-linear interactions both miss individually.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 1 achieves AUC 0.861 — strong discriminative performance in under 30 seconds. This is the risk signal that feeds the agentic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agentic layer takes the PRS output and autonomously routes each patient to the correct clinical, payment, or operational action — no human in the loop for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converging forces: the science is ready, the data is available, and the regulatory path is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Opportunities are near-term and executable. Threats are manageable with the right technical and legal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A ships fast and proves value. Revenue from A funds Option B's deeper research partnership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emphasising the business case: Cotiviti doesn't need to become a genomics company — it needs to integrate genomic risk signals into workflows it already 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PATTERN RECOGNITION 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9019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GWAS/mQTL Data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Cancer Risk Prediction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3401568"/>
            <a:ext cx="82296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2: Clinical Decision Making and Pattern Recognition in Health Care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858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Bhavya Sevak  ·  M.S. Biomedical Informatics, Arizona State University  ·  June 2026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224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 Intern 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438" y="2697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Connecting Predictive Genomics with Operational 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0241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Multi-Omic Blueprint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1325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GWAS, mQTL, and Epigenetic Mediation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828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Macro Trends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1305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models, regulatory shift, multi-omics scale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569464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52344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" y="26334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&amp; Threats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8992" y="293522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moats, PHI complexity, ancestry bias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57016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8992" y="34381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" y="37398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PRS API  vs  Option B: CDS Hooks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822960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178808"/>
            <a:ext cx="530352" cy="694944"/>
          </a:xfrm>
          <a:prstGeom prst="roundRect">
            <a:avLst>
              <a:gd name="adj" fmla="val 12069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361688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78992" y="42428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 Demo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" y="45445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Classifier + Agentic LLM TPO Router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GWAS + mQTL + Machine Learning?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051560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8288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38912" y="22860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millions of Single Nucleotide Polymorphisms (SNPs) statistically associated with complex disease phenotypes across large population cohorts.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91440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051560"/>
            <a:ext cx="621792" cy="6217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0" y="18288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291840" y="22860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as the critical epigenetic mediator — connects inherited germline DNA with somatic gene expression patterns driving cancer progression.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53328" y="914400"/>
            <a:ext cx="2697480" cy="3337560"/>
          </a:xfrm>
          <a:prstGeom prst="roundRect">
            <a:avLst>
              <a:gd name="adj" fmla="val 3390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1051560"/>
            <a:ext cx="621792" cy="6217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53328" y="18288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Integration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144768" y="22860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+ LASSO sparse regularization parse non-linear multi-omic interactions to deliver calibrated Polygenic Risk Scores (PRS).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47472" y="4370832"/>
            <a:ext cx="8430768" cy="566928"/>
          </a:xfrm>
          <a:prstGeom prst="roundRect">
            <a:avLst>
              <a:gd name="adj" fmla="val 12903"/>
            </a:avLst>
          </a:prstGeom>
          <a:solidFill>
            <a:srgbClr val="1A1F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502920" y="4407408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Goal: Replace linear additive PRS with ML to deliver accurate, calibrated cancer risk scores for early preventative oncology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Concept: Layer 1 — Predictive Classifier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Computational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335024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1353312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6032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" y="2487168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patient records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SNP/mQTL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Case/control labels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56232" y="2377440"/>
            <a:ext cx="137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93392" y="1261872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87168" y="1335024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87168" y="1353312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93392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Chi-Squared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39112" y="2487168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→ 500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association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93592" y="2377440"/>
            <a:ext cx="137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30752" y="1261872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24528" y="1335024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24528" y="1353312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30752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76472" y="2487168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→ ~47 SNPs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regularization isolates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variants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30952" y="2377440"/>
            <a:ext cx="137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68112" y="1261872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61888" y="1335024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61888" y="1353312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68112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13832" y="2487168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Gradient-boosted trees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epistatic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068312" y="2377440"/>
            <a:ext cx="1371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05472" y="1261872"/>
            <a:ext cx="1572768" cy="2331720"/>
          </a:xfrm>
          <a:prstGeom prst="roundRect">
            <a:avLst>
              <a:gd name="adj" fmla="val 5814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99248" y="1335024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99248" y="1353312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205472" y="2011680"/>
            <a:ext cx="15727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Output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51192" y="2487168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regression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Per-sample risk 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1 probability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730752"/>
            <a:ext cx="8412480" cy="1170432"/>
          </a:xfrm>
          <a:prstGeom prst="roundRect">
            <a:avLst>
              <a:gd name="adj" fmla="val 781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" y="3794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ROC AUC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404164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0.861 ± 0.010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77240" y="44531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62072" y="3794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SNPs Selected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62072" y="404164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 / 5,000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2862072" y="44531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LASSO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46904" y="3794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46904" y="404164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 sec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4946904" y="44531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CPU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31736" y="3794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31736" y="4041648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~120 lines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031736" y="44531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Python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Concept: Layer 2 — Agentic LLM TPO Router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Risk Prediction to Operational Delivery  ·  Powered by Llama 3.3 via Groq API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1A1F5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9844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2618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8992" y="1691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 Risk Tier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(0–1 score)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53512" y="1874520"/>
            <a:ext cx="292608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9844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9352" y="12618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959352" y="1691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3.3 / Groq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reasoning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33872" y="1874520"/>
            <a:ext cx="292608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126480" y="11887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1A1F5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9844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9712" y="12618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Action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39712" y="16916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EHR / Payer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 Hooks / Billing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65760" y="2788920"/>
            <a:ext cx="2560320" cy="2084832"/>
          </a:xfrm>
          <a:prstGeom prst="roundRect">
            <a:avLst>
              <a:gd name="adj" fmla="val 3947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65760" y="2788920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365760" y="279806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75488" y="3182112"/>
            <a:ext cx="2359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family history,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&amp; ancestry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75488" y="3730752"/>
            <a:ext cx="2359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accelerated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screening panel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75488" y="4279392"/>
            <a:ext cx="2359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APPROVE_EARLY_SCREENING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ESCALATE_TO_ONCOLOGY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246120" y="2788920"/>
            <a:ext cx="2560320" cy="2084832"/>
          </a:xfrm>
          <a:prstGeom prst="roundRect">
            <a:avLst>
              <a:gd name="adj" fmla="val 3947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3246120" y="2788920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3246120" y="279806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3355848" y="3182112"/>
            <a:ext cx="2359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pre-authorization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clearances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355848" y="3730752"/>
            <a:ext cx="2359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HCC risk-adjustment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by variant severity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355848" y="4279392"/>
            <a:ext cx="2359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TRIGGER_PRE_AUTHORIZATION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26480" y="2788920"/>
            <a:ext cx="2560320" cy="2084832"/>
          </a:xfrm>
          <a:prstGeom prst="roundRect">
            <a:avLst>
              <a:gd name="adj" fmla="val 3947"/>
            </a:avLst>
          </a:prstGeom>
          <a:solidFill>
            <a:srgbClr val="F4F6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126480" y="2788920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126480" y="279806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236208" y="3182112"/>
            <a:ext cx="2359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CPT 81479 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ICD-10 Z80.0 codes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236208" y="3730752"/>
            <a:ext cx="2359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structured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pop health platforms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236208" y="4279392"/>
            <a:ext cx="23591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OPTIMIZE_BILLING_CODE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Macro Trends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987552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 Foundation 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35024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multi-billion-parameter transformers enable zero-shot transfer learning on underrepresented populations — directly resolving historical ancestry data gaps.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01968" y="1078992"/>
            <a:ext cx="1993392" cy="859536"/>
          </a:xfrm>
          <a:prstGeom prst="roundRect">
            <a:avLst>
              <a:gd name="adj" fmla="val 8511"/>
            </a:avLst>
          </a:prstGeom>
          <a:solidFill>
            <a:srgbClr val="00A89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01968" y="109728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62B+ params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01968" y="144475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Nucleotide Transformer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841248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59152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340864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 Linkage at Scale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88336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Biobank, NIH All of Us, and TCGA combine biological arrays with longitudinal clinical registries — Cotiviti claims data is a uniquely powerful linkage asset.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01968" y="2432304"/>
            <a:ext cx="1993392" cy="859536"/>
          </a:xfrm>
          <a:prstGeom prst="roundRect">
            <a:avLst>
              <a:gd name="adj" fmla="val 8511"/>
            </a:avLst>
          </a:prstGeom>
          <a:solidFill>
            <a:srgbClr val="00A89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01968" y="2450592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500K+ patients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01968" y="2798064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Biobank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21024"/>
            <a:ext cx="8412480" cy="1207008"/>
          </a:xfrm>
          <a:prstGeom prst="roundRect">
            <a:avLst>
              <a:gd name="adj" fmla="val 757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712464"/>
            <a:ext cx="658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694176"/>
            <a:ext cx="5303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Reimbursement Momentum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041648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SaMD expansions and new CMS billing pathways (CPT 81479+) establish viable commercial infrastructure for genomic-informed payer analytics.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01968" y="3785616"/>
            <a:ext cx="1993392" cy="859536"/>
          </a:xfrm>
          <a:prstGeom prst="roundRect">
            <a:avLst>
              <a:gd name="adj" fmla="val 8511"/>
            </a:avLst>
          </a:prstGeom>
          <a:solidFill>
            <a:srgbClr val="00A89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01968" y="380390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CPT 81479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01968" y="4151376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F4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Coverage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Threats for Cotiviti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886968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0976" y="8869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— THE STRATEGIC MOAT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886968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2080" y="8869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 — OPERATIONAL OBSTACLES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65760" y="137160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E2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" y="14356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Population Risk Stratification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17190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high-risk members before advanced oncology claims accrue — direct premium savings.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65760" y="237744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E2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02920" y="24414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Linkage Moat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" y="27249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proprietary claims with biobanks. No pure genomics firm has this administrative linkage.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338328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E2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02920" y="34472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Equity Leadership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3730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Ancestry-aware ML resolves standard genomic ethnic bias — aligns with CMS equity mandates.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63440" y="137160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800600" y="14356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Bias Liability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00600" y="171907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false-negative rates in non-European cohorts due to historically biased baseline GWAS datasets.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63440" y="237744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800600" y="24414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 &amp; Compliance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00600" y="272491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GINA law compliance + HIPAA de-identification of sensitive genomic PHI adds operational complexity.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663440" y="338328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800600" y="34472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Displacement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00600" y="373075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Tempus, Foundation Medicine, and Epic Genomics are moving fast — window is open but closing.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526280" y="850392"/>
            <a:ext cx="0" cy="41148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60520" cy="3657600"/>
          </a:xfrm>
          <a:prstGeom prst="roundRect">
            <a:avLst>
              <a:gd name="adj" fmla="val 3000"/>
            </a:avLst>
          </a:prstGeom>
          <a:solidFill>
            <a:srgbClr val="1A1F5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051560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556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— TACTICAL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GWAS-PRS Risk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Stratification API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38862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Ancestry-calibrated PRS microservice
</a:t>
            </a: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high-volume cancer types (CRC, lung, breast)
</a:t>
            </a: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Plugs into existing Cotiviti care portals
</a:t>
            </a:r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6–12 months to pilot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4279392"/>
            <a:ext cx="3566160" cy="201168"/>
          </a:xfrm>
          <a:prstGeom prst="roundRect">
            <a:avLst>
              <a:gd name="adj" fmla="val 2272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8368" y="4279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— Near-term, low risk, high value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41605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051560"/>
            <a:ext cx="621792" cy="621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175564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— STRATEGIC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46320" y="20116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mQTL-Informed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A1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CDS Hooks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800600" y="2788920"/>
            <a:ext cx="38862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router in active EHR workflows
</a:t>
            </a: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GWAS + methylation + metabolomics ML model
</a:t>
            </a: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Biobank partnership (Sangre Por Salud, All of Us)
</a:t>
            </a: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18–36 months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56048" y="4279392"/>
            <a:ext cx="3566160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956048" y="4279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FOLLOW-ON — Defensible workflow moat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560320"/>
            <a:ext cx="3657600" cy="365760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Key Takeaways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57200" y="2029968"/>
            <a:ext cx="731520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21284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2176272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GWAS + mQTL ML models capture non-linear risk signals that traditional clinical statistics miss.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724912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268833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Cotiviti's commercial claims database is a unique linkage asset no pure genomics firm possesses.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3697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68680" y="320040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(PRS API) is a fast, high-value near-term pilot — executable in 6–12 months.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74904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68680" y="371246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TPO router autonomously handles Treatment, Payment &amp; Operations — no manual triage.</a:t>
            </a:r>
            <a:endParaRPr lang="en-US" sz="13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261104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68680" y="422452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POC runs in under 30 seconds: AUC 0.861, ~47 SNPs selected, structured JSON output.</a:t>
            </a:r>
            <a:endParaRPr lang="en-US" sz="1300" dirty="0"/>
          </a:p>
        </p:txBody>
      </p:sp>
      <p:sp>
        <p:nvSpPr>
          <p:cNvPr id="16" name="Text 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Bhavya Sevak  ·  M.S. Biomedical Informatics  ·  Arizona State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1035</Words>
  <Application>Microsoft Macintosh PowerPoint</Application>
  <PresentationFormat>On-screen Show (16:9)</PresentationFormat>
  <Paragraphs>174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Pattern Recognition on GWAS/mQTL Data for Cancer Risk Prediction</dc:title>
  <dc:subject>PptxGenJS Presentation</dc:subject>
  <dc:creator>Bhavya Sevak</dc:creator>
  <cp:lastModifiedBy>Bhavya Sevak (Student)</cp:lastModifiedBy>
  <cp:revision>2</cp:revision>
  <dcterms:created xsi:type="dcterms:W3CDTF">2026-06-26T16:28:29Z</dcterms:created>
  <dcterms:modified xsi:type="dcterms:W3CDTF">2026-06-26T16:33:04Z</dcterms:modified>
</cp:coreProperties>
</file>